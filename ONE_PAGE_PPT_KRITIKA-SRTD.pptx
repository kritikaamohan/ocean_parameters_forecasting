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61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00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43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9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73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0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4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26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2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29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58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97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1ED43-D58D-4720-A24F-531848274B2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42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74918"/>
            <a:ext cx="5377544" cy="80553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Name: KRITIKA MOHAN</a:t>
            </a:r>
          </a:p>
          <a:p>
            <a:pPr algn="just"/>
            <a:r>
              <a:rPr lang="en-US" sz="1500" b="1" dirty="0"/>
              <a:t>Designation:  RESEARCH INTERN</a:t>
            </a:r>
            <a:endParaRPr lang="en-US" sz="1500" dirty="0"/>
          </a:p>
          <a:p>
            <a:pPr algn="just"/>
            <a:r>
              <a:rPr lang="en-US" sz="1500" b="1" dirty="0"/>
              <a:t>Institution: CENTRAL UNIVERSITY OF SOUTH BIHAR</a:t>
            </a:r>
            <a:endParaRPr lang="en-US" sz="15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7491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algn="ctr">
              <a:tabLst>
                <a:tab pos="11201400" algn="l"/>
              </a:tabLst>
            </a:pPr>
            <a:r>
              <a:rPr lang="en-US" b="1" dirty="0"/>
              <a:t>Performance Benchmarking of Deep Learning Architectures for</a:t>
            </a:r>
          </a:p>
          <a:p>
            <a:pPr marL="685800" algn="ctr">
              <a:tabLst>
                <a:tab pos="11201400" algn="l"/>
              </a:tabLst>
            </a:pPr>
            <a:r>
              <a:rPr lang="en-US" b="1" dirty="0"/>
              <a:t> Independent Forecasting of Satellite-Derived Ocean Parameters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0" y="1480452"/>
            <a:ext cx="10611853" cy="123868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500" b="1" dirty="0"/>
          </a:p>
          <a:p>
            <a:r>
              <a:rPr lang="en-US" sz="1500" b="1" dirty="0"/>
              <a:t>MAJOR 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 conduct a rigorous performance evaluation of five deep learning architectures (LSTM, CNN-LSTM, </a:t>
            </a:r>
            <a:r>
              <a:rPr lang="en-IN" sz="1400" dirty="0" err="1"/>
              <a:t>ConvLSTM</a:t>
            </a:r>
            <a:r>
              <a:rPr lang="en-IN" sz="1400" dirty="0"/>
              <a:t>, Attention Based </a:t>
            </a:r>
            <a:r>
              <a:rPr lang="en-IN" sz="1400" dirty="0" err="1"/>
              <a:t>ConvLSTM</a:t>
            </a:r>
            <a:r>
              <a:rPr lang="en-IN" sz="1400" dirty="0"/>
              <a:t>, and GCN-LSTM</a:t>
            </a:r>
            <a:r>
              <a:rPr lang="en-IN" sz="1400"/>
              <a:t>) for </a:t>
            </a:r>
            <a:r>
              <a:rPr lang="en-IN" sz="1400" dirty="0"/>
              <a:t>short-to-medium term forecasting of ADT, and </a:t>
            </a:r>
            <a:r>
              <a:rPr lang="en-IN" sz="1400" dirty="0" err="1"/>
              <a:t>Chl</a:t>
            </a:r>
            <a:r>
              <a:rPr lang="en-IN" sz="1400" dirty="0"/>
              <a:t>-a treated as independent physical fields.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 investigate whether the optimal forecasting model is inherently parameter-dependent or if graph-based topologies consistently outperform grid-based methods across marine domains. </a:t>
            </a:r>
            <a:endParaRPr lang="en-US" sz="1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500" b="1" dirty="0"/>
          </a:p>
        </p:txBody>
      </p:sp>
      <p:sp>
        <p:nvSpPr>
          <p:cNvPr id="7" name="Rectangle 6"/>
          <p:cNvSpPr/>
          <p:nvPr/>
        </p:nvSpPr>
        <p:spPr>
          <a:xfrm>
            <a:off x="10611853" y="674913"/>
            <a:ext cx="1580147" cy="14907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-1" y="2719137"/>
            <a:ext cx="3995057" cy="413886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METHODOLOGY FLOW CHART:  </a:t>
            </a:r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IN" sz="1500" b="1" dirty="0"/>
          </a:p>
        </p:txBody>
      </p:sp>
      <p:sp>
        <p:nvSpPr>
          <p:cNvPr id="9" name="Rectangle 8"/>
          <p:cNvSpPr/>
          <p:nvPr/>
        </p:nvSpPr>
        <p:spPr>
          <a:xfrm>
            <a:off x="3995056" y="2719131"/>
            <a:ext cx="8196944" cy="323649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r>
              <a:rPr lang="en-US" sz="1500" b="1" dirty="0"/>
              <a:t>RESULTS/MAJOR FINDINGS:    </a:t>
            </a:r>
          </a:p>
          <a:p>
            <a:pPr algn="just"/>
            <a:endParaRPr lang="en-US" sz="15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dirty="0"/>
          </a:p>
          <a:p>
            <a:pPr algn="just"/>
            <a:endParaRPr lang="en-US" sz="1500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IN" sz="1500" b="1" dirty="0"/>
          </a:p>
        </p:txBody>
      </p:sp>
      <p:sp>
        <p:nvSpPr>
          <p:cNvPr id="10" name="Rectangle 9"/>
          <p:cNvSpPr/>
          <p:nvPr/>
        </p:nvSpPr>
        <p:spPr>
          <a:xfrm>
            <a:off x="3995056" y="5955632"/>
            <a:ext cx="8196944" cy="90236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500" b="1" dirty="0"/>
          </a:p>
          <a:p>
            <a:pPr algn="just"/>
            <a:r>
              <a:rPr lang="en-US" sz="1500" b="1" dirty="0"/>
              <a:t>CONCLUSION: </a:t>
            </a:r>
            <a:r>
              <a:rPr lang="en-IN" sz="1400" dirty="0"/>
              <a:t>Physical parameters like ADT perform best under grid-based Attention-based</a:t>
            </a:r>
            <a:r>
              <a:rPr lang="en-IN" sz="1400" b="1" dirty="0"/>
              <a:t> </a:t>
            </a:r>
            <a:r>
              <a:rPr lang="en-IN" sz="1400" dirty="0" err="1"/>
              <a:t>ConvLSTM</a:t>
            </a:r>
            <a:r>
              <a:rPr lang="en-IN" sz="1400" dirty="0"/>
              <a:t> networks to preserve long-term temporal memory. Conversely, biological parameters like </a:t>
            </a:r>
            <a:r>
              <a:rPr lang="en-IN" sz="1400" dirty="0" err="1"/>
              <a:t>Chl</a:t>
            </a:r>
            <a:r>
              <a:rPr lang="en-IN" sz="1400" dirty="0"/>
              <a:t>-a strictly require GCN-LSTM graph configurations to prevent coastal land-mask spatial distortions.</a:t>
            </a:r>
            <a:r>
              <a:rPr lang="en-US" sz="1500" b="1" dirty="0"/>
              <a:t> </a:t>
            </a:r>
          </a:p>
          <a:p>
            <a:pPr algn="just"/>
            <a:endParaRPr lang="en-IN" sz="1500" b="1" dirty="0"/>
          </a:p>
        </p:txBody>
      </p:sp>
      <p:pic>
        <p:nvPicPr>
          <p:cNvPr id="16" name="Picture 1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6" y="38102"/>
            <a:ext cx="675773" cy="5755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5366656" y="674912"/>
            <a:ext cx="5245197" cy="80554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Guide: DR. JAI KUMAR</a:t>
            </a:r>
          </a:p>
          <a:p>
            <a:pPr algn="just"/>
            <a:r>
              <a:rPr lang="en-US" sz="1500" b="1" dirty="0"/>
              <a:t>Contact e-mail: kumarj@sac.isro.gov.in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816429" y="-4"/>
            <a:ext cx="10412185" cy="67491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algn="ctr">
              <a:tabLst>
                <a:tab pos="11201400" algn="l"/>
              </a:tabLst>
            </a:pP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0611853" y="2165684"/>
            <a:ext cx="1580147" cy="55344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12 JAN 2026 to </a:t>
            </a:r>
          </a:p>
          <a:p>
            <a:pPr algn="ctr"/>
            <a:r>
              <a:rPr lang="en-US" sz="1500" b="1" dirty="0"/>
              <a:t>30  JUN 2026</a:t>
            </a:r>
            <a:endParaRPr lang="en-IN" sz="1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2DFE1-7F08-499E-8021-766BAA448626}"/>
              </a:ext>
            </a:extLst>
          </p:cNvPr>
          <p:cNvSpPr txBox="1"/>
          <p:nvPr/>
        </p:nvSpPr>
        <p:spPr>
          <a:xfrm>
            <a:off x="10244686" y="152786"/>
            <a:ext cx="1967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SRTD-RTMG-MISA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DA25D74-9078-6260-96CC-A6883590A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2" t="1748" r="13333" b="3971"/>
          <a:stretch>
            <a:fillRect/>
          </a:stretch>
        </p:blipFill>
        <p:spPr>
          <a:xfrm>
            <a:off x="422787" y="2969343"/>
            <a:ext cx="3264310" cy="38914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F620D5-CE73-1E06-F192-6EF8E762EA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741" y="689042"/>
            <a:ext cx="1559664" cy="1462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E134A8-472D-D70F-FF26-236844A37A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885" y="4479920"/>
            <a:ext cx="5818963" cy="14339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F07749-4297-92DF-DC54-8AFCFCB65D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335" y="4523946"/>
            <a:ext cx="1965893" cy="13105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65402B-FE7D-3F7C-5B27-078CCAD1D2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482" y="2804903"/>
            <a:ext cx="2258726" cy="163327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44A5D3D-AC0F-7AE7-7D1C-9130DC1E8E2F}"/>
              </a:ext>
            </a:extLst>
          </p:cNvPr>
          <p:cNvSpPr txBox="1"/>
          <p:nvPr/>
        </p:nvSpPr>
        <p:spPr>
          <a:xfrm>
            <a:off x="4029541" y="3096065"/>
            <a:ext cx="56661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Variable-Dependent Optima:</a:t>
            </a:r>
            <a:r>
              <a:rPr lang="en-IN" sz="1400" dirty="0"/>
              <a:t> The framework proved predictive architectures are strictly parameter-dependent rather than universal.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Domain-Specific Models:</a:t>
            </a:r>
            <a:r>
              <a:rPr lang="en-IN" sz="1400" dirty="0"/>
              <a:t> ADT excel under grid-based Attention-</a:t>
            </a:r>
            <a:r>
              <a:rPr lang="en-IN" sz="1400" dirty="0" err="1"/>
              <a:t>ConvLSTM</a:t>
            </a:r>
            <a:r>
              <a:rPr lang="en-IN" sz="1400" dirty="0"/>
              <a:t> networks to preserve temporal memory, while </a:t>
            </a:r>
            <a:r>
              <a:rPr lang="en-IN" sz="1400" dirty="0" err="1"/>
              <a:t>Chl</a:t>
            </a:r>
            <a:r>
              <a:rPr lang="en-IN" sz="1400" dirty="0"/>
              <a:t>-a require GCN-LSTM graph configurations to prevent coastal land-mask distortions.</a:t>
            </a:r>
          </a:p>
        </p:txBody>
      </p:sp>
    </p:spTree>
    <p:extLst>
      <p:ext uri="{BB962C8B-B14F-4D97-AF65-F5344CB8AC3E}">
        <p14:creationId xmlns:p14="http://schemas.microsoft.com/office/powerpoint/2010/main" val="105459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208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</dc:creator>
  <cp:lastModifiedBy>Kr.Vaibhav Mohan</cp:lastModifiedBy>
  <cp:revision>69</cp:revision>
  <dcterms:created xsi:type="dcterms:W3CDTF">2017-11-15T06:25:27Z</dcterms:created>
  <dcterms:modified xsi:type="dcterms:W3CDTF">2026-06-22T04:28:29Z</dcterms:modified>
</cp:coreProperties>
</file>